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iTalki — Clon nativo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Native UI Re-Engineering &amp; UX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9E6"/>
                </a:solidFill>
                <a:latin typeface="Calibri"/>
              </a:rPr>
              <a:t>Clonado de UI y análisis de producto de italki con Kotlin Jetpack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9CC"/>
                </a:solidFill>
                <a:latin typeface="Calibri"/>
              </a:rPr>
              <a:t>Tu nombre · Ingeniería de Sistemas · Facultad de 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Qué vamos a 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28"/>
                </a:solidFill>
                <a:latin typeface="Calibri"/>
              </a:rPr>
              <a:t>Selección y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85"/>
                </a:solidFill>
                <a:latin typeface="Calibri"/>
              </a:rPr>
              <a:t>Mercado, psicología del color, auditoría de listas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28"/>
                </a:solidFill>
                <a:latin typeface="Calibri"/>
              </a:rPr>
              <a:t>Desarrollo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85"/>
                </a:solidFill>
                <a:latin typeface="Calibri"/>
              </a:rPr>
              <a:t>Modelos de datos, listas con LazyColumn, fidelidad visual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28"/>
                </a:solidFill>
                <a:latin typeface="Calibri"/>
              </a:rPr>
              <a:t>Crítica y mejora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85"/>
                </a:solidFill>
                <a:latin typeface="Calibri"/>
              </a:rPr>
              <a:t>Defecto de UX real detectado + solución implementada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A · ANÁLISIS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¿A quién está dirigida italki?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Edad: principalmente 18–45 años — estudiantes universitarios, profesionales jóvenes y adultos en movilidad internacional.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Intereses: aprendizaje de idiomas con fines prácticos — viajes, migración, trabajo remoto/internacional, certificaciones.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Nivel socioeconómico: medio a medio-alto — el modelo freemium (tutores de comunidad desde USD 5/h) baja la barrera de entrada, pero el catálogo profesional apunta a usuarios con poder adquisitivo para invertir en su desarrollo.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Contexto de uso: usuarios digitalmente activos, acostumbrados a marketplaces (Airbnb, Uber) — esperan búsqueda, filtros y pago fluido.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pantalla de búsqueda de profesores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A · ANÁLISIS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Psicología del color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F4438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28"/>
                </a:solidFill>
                <a:latin typeface="Calibri"/>
              </a:rPr>
              <a:t>#FF4438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7A85"/>
                </a:solidFill>
                <a:latin typeface="Calibri"/>
              </a:rPr>
              <a:t>Primario — Coral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7373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3A3B52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28"/>
                </a:solidFill>
                <a:latin typeface="Calibri"/>
              </a:rPr>
              <a:t>#3A3B52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063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7A85"/>
                </a:solidFill>
                <a:latin typeface="Calibri"/>
              </a:rPr>
              <a:t>Secundario — Slate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D6F5E3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28"/>
                </a:solidFill>
                <a:latin typeface="Calibri"/>
              </a:rPr>
              <a:t>#D6F5E3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7A85"/>
                </a:solidFill>
                <a:latin typeface="Calibri"/>
              </a:rPr>
              <a:t>Estado — Mint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373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2FBFAE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28"/>
                </a:solidFill>
                <a:latin typeface="Calibri"/>
              </a:rPr>
              <a:t>#2FBFAE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7A85"/>
                </a:solidFill>
                <a:latin typeface="Calibri"/>
              </a:rPr>
              <a:t>Acento — Teal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737360"/>
            <a:ext cx="1737360" cy="100584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1C28"/>
                </a:solidFill>
                <a:latin typeface="Calibri"/>
              </a:rPr>
              <a:t>#F5F5F7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7A85"/>
                </a:solidFill>
                <a:latin typeface="Calibri"/>
              </a:rPr>
              <a:t>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C1C28"/>
                </a:solidFill>
                <a:latin typeface="Calibri"/>
              </a:rPr>
              <a:t>•  Coral (#FF4438): color de mayor energía y calidez — se reserva para llamados a la acción (Reservar, precios, descuentos), generando urgencia y foco sin caer en la agresividad del rojo puro.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1C28"/>
                </a:solidFill>
                <a:latin typeface="Calibri"/>
              </a:rPr>
              <a:t>•  Slate (#3A3B52): casi-negro con temperatura fría, usado en texto y navegación — transmite seriedad y confianza, apropiado para una decisión con costo real (pagar por un tutor).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1C28"/>
                </a:solidFill>
                <a:latin typeface="Calibri"/>
              </a:rPr>
              <a:t>•  Mint/Verde (#D6F5E3 / #2ECC71): asociado a progreso y logro — se usa exclusivamente en estados de éxito (clases completadas, dominio nativo), reforzando la sensación de avance en el aprendizaje.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1C28"/>
                </a:solidFill>
                <a:latin typeface="Calibri"/>
              </a:rPr>
              <a:t>•  Fondo neutro (#F5F5F7): mantiene el contraste bajo para que el coral de las acciones sea lo primero que capta el ojo (jerarquía visual por contraste, no por tamaño).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A · ANÁLISIS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Auditoría de componentes: los iterables elegidos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8"/>
                </a:solidFill>
                <a:latin typeface="Calibri"/>
              </a:rPr>
              <a:t>Profesores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71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A7A85"/>
                </a:solidFill>
                <a:latin typeface="Calibri"/>
              </a:rPr>
              <a:t>Cards ricas: foto, badge de descuento, rating, precio/hora — la lista con mayor densidad visual de la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8"/>
                </a:solidFill>
                <a:latin typeface="Calibri"/>
              </a:rPr>
              <a:t>Clases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2971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A7A85"/>
                </a:solidFill>
                <a:latin typeface="Calibri"/>
              </a:rPr>
              <a:t>Lista con estado (TabRow Todos/Completada/Cancelada…) y banda de color por estado — estresada con 400 registros simulados.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7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060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28"/>
                </a:solidFill>
                <a:latin typeface="Calibri"/>
              </a:rPr>
              <a:t>Estudiantes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63240"/>
            <a:ext cx="2971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A7A85"/>
                </a:solidFill>
                <a:latin typeface="Calibri"/>
              </a:rPr>
              <a:t>Exclusiva de modo profesor, con sub-tabs Actual/Potencial que cambian por completo los campos mostrados.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7A85"/>
                </a:solidFill>
                <a:latin typeface="Calibri"/>
              </a:rPr>
              <a:t>Bonus: se agregó una 4ta lista (Chats) por ser de bajo costo de implementación adicional.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B · DESARROLLO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Arquitectura y estructura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Capas: data / domain / ui — interfaces de repositorio en domain, implementaciones fake en data.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Repository pattern: FakeTeacherRepository, FakeClassRepository, FakeStudentRepository, FakeChatRepository, todas detrás de interfaces.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Datos simulados extensos y deterministas: FakeDataGenerator con semilla fija — mismos datos en cada ejecución, sin backend ni Room.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Un ViewModel por pantalla de lista, exponiendo StateFlow&lt;UiState&lt;List&lt;T&gt;&gt;&gt; (Loading / Success).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Sin capa de casos de uso: se evaluó innecesaria para el alcance del taller (YAGNI).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Captura/diagrama: estructura de carpetas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B · DESARROLLO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Listas: LazyColumn +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LazyColumn con key = id en cada item — evita recomposiciones innecesarias al filtrar/reordenar.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Modifier.animateItem() en cada card — transición de entrada/reordenamiento animada sin código manual de animación.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Estado de carga real: cada repositorio simula delay(400ms) para que el LoadingSkeleton sea visible, no instantáneo.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Prueba de estrés: 400 registros generados en Clases (la app real mostraba “Completada · 450”) — scroll probado en dispositivo físico real, sin caídas de frames perceptibles.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Ripple/efecto de presión por defecto de Material 3 en cada card clícable.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lista de Clases con 400 registros / loading skeleton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B · DESARROLLO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Fidelidad visual: original vs. clon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app original (italki)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clon en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B · DESARROLLO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Fidelidad visual: banda de estado en Clases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app original — banner de estado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clon — banner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C · CRÍTICA Y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El defecto: el Home del estudiante no es accionable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En la app real, “Hoy” del profesor abre con información 100% funcional: ganancias, saldo, clases que requieren acción.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“Hoy” del estudiante, en cambio, abre con contenido promocional: test de tipo de estudiante, calendario genérico y publicidad de italki Plus (USD 59.99) — sin ningún elemento que refleje su progreso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F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b="1" sz="1500">
                <a:solidFill>
                  <a:srgbClr val="E13327"/>
                </a:solidFill>
              </a:rPr>
              <a:t>Heurística violada (Nielsen): “Visibilidad del estado del sistema”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E13327"/>
                </a:solidFill>
              </a:rPr>
              <a:t>La interfaz debe reflejar el estado real y relevante del usuario. Anteponer publicidad a la información de progreso rompe esa expectativa, especialmente para un estudiante con clases ya agendadas.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Home del estudiante en la app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C · CRÍTICA Y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La mejora: anteponer la próxima clase (o un CTA real)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Si el estudiante tiene una clase próxima: se muestra primero, con profesor, materia, fecha/hora — tap lleva directo a la lista de Clases.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Si no tiene ninguna: CTA directo “Encuentra un profesor” que lleva a la lista de Profesores.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El contenido promocional deja de ser lo primero que ve el usuario.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Reutiliza los repositorios y listas ya construidos en Fase B (ClassRepository) — sin pantallas nuevas, sin backend adicional.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Home del estudiante en el clon (mejora aplicada)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438"/>
                </a:solidFill>
                <a:latin typeface="Calibri"/>
              </a:rPr>
              <a:t>FASE C · CRÍTICA Y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C28"/>
                </a:solidFill>
                <a:latin typeface="Calibri"/>
              </a:rPr>
              <a:t>También se completó el Home del profesor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Ganancias: saldo total.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Mini-dashboard de acción: Próxima · Acción necesaria · Acción sobre el paquete.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Estadísticas generales: clases completadas, % de respuesta, % de asistencia.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C1C28"/>
                </a:solidFill>
                <a:latin typeface="Calibri"/>
              </a:rPr>
              <a:t>•  Todo derivado de las mismas ClassSession que alimentan la lista de Clases — consistencia de datos entre pantallas.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A7A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7A7A85"/>
                </a:solidFill>
              </a:rPr>
              <a:t>📷  Captura: Home del profesor en el clon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8D9E6"/>
                </a:solidFill>
                <a:latin typeface="Calibri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A85"/>
                </a:solidFill>
                <a:latin typeface="Calibri"/>
              </a:rPr>
              <a:t>iTalki Clone — Taller de Clonado de UI y Análisis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